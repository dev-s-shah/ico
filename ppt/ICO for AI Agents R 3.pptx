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z2NNVoHQV61Jhs7o3qpg5Zdx9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4B7ADB-3CA1-4C67-B2DD-410447FE4A04}">
  <a:tblStyle styleId="{504B7ADB-3CA1-4C67-B2DD-410447FE4A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A5BF48E-563A-4E0D-BA28-ED4F5F1DC32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pc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pc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b="1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pc="0" sz="20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pc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TIMindtree logo in transparent PNG and vectorized SVG formats" id="9" name="Google Shape;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2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pc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pc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2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pc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-31269" y="29737"/>
            <a:ext cx="12254400" cy="6868500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pc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2289635" y="17705"/>
            <a:ext cx="69102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pc="0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M.Tech Program </a:t>
            </a:r>
            <a:endParaRPr b="1" i="0" spc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pc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Advanced Industry Integrated Programs</a:t>
            </a:r>
            <a:endParaRPr b="1" i="0" spc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"/>
          <p:cNvCxnSpPr/>
          <p:nvPr/>
        </p:nvCxnSpPr>
        <p:spPr>
          <a:xfrm>
            <a:off x="2977350" y="1120307"/>
            <a:ext cx="5866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64" name="Google Shape;64;p1"/>
          <p:cNvSpPr/>
          <p:nvPr/>
        </p:nvSpPr>
        <p:spPr>
          <a:xfrm>
            <a:off x="4125950" y="1177575"/>
            <a:ext cx="3483000" cy="285900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 MindTree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180236" y="1659822"/>
            <a:ext cx="114282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1"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1" i="0" spc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pc="0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 3</a:t>
            </a:r>
            <a:endParaRPr b="1" i="0" spc="0" sz="3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pc="0" sz="3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b="1" i="0" spc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T9991</a:t>
            </a:r>
            <a:endParaRPr b="1" i="0" spc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pc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pc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{504B7ADB-3CA1-4C67-B2DD-410447FE4A04}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pc="0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pc="0" sz="18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pc="0" sz="1800" u="none" cap="none" strike="noStrike">
                          <a:solidFill>
                            <a:srgbClr val="FFFFFF"/>
                          </a:solidFill>
                        </a:rPr>
                        <a:t>                                                        Implementation Partner</a:t>
                      </a:r>
                      <a:r>
                        <a:rPr lang="en-US" spc="0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</a:t>
                      </a:r>
                      <a:endParaRPr spc="0"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pc="0"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ss Release Distribution India | Business Wire India" id="68" name="Google Shape;6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 rot="10800000">
            <a:off x="244700" y="1378025"/>
            <a:ext cx="11670900" cy="4953300"/>
          </a:xfrm>
          <a:prstGeom prst="round1Rect">
            <a:avLst>
              <a:gd fmla="val 36915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221274" y="1234462"/>
            <a:ext cx="11212200" cy="5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 sz="2800">
              <a:solidFill>
                <a:srgbClr val="351C75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Repeated LLM queries cause </a:t>
            </a:r>
            <a:r>
              <a:rPr b="1" lang="en-US" sz="2800">
                <a:solidFill>
                  <a:srgbClr val="2FBADB"/>
                </a:solidFill>
                <a:latin typeface="Calibri"/>
                <a:ea typeface="Calibri"/>
                <a:cs typeface="Calibri"/>
                <a:sym typeface="Calibri"/>
              </a:rPr>
              <a:t>high cost, latency, and token wastage</a:t>
            </a:r>
            <a:endParaRPr sz="2800">
              <a:solidFill>
                <a:srgbClr val="2FBAD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Scalability challenges due to growing API usage and rate limits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Solution: Intelligent Caching</a:t>
            </a:r>
            <a:endParaRPr b="1" sz="2800">
              <a:solidFill>
                <a:srgbClr val="351C75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Exact Match Cache :  Redis</a:t>
            </a:r>
            <a:endParaRPr b="1" sz="2800"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 Similarity Cache : Pgvector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Context-Aware Retrieval : Agent/Tool support.</a:t>
            </a:r>
            <a:endParaRPr b="1"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-US" sz="2800">
                <a:solidFill>
                  <a:srgbClr val="2EBADD"/>
                </a:solidFill>
                <a:latin typeface="Calibri"/>
                <a:ea typeface="Calibri"/>
                <a:cs typeface="Calibri"/>
                <a:sym typeface="Calibri"/>
              </a:rPr>
              <a:t>Intelligent Policy Engine</a:t>
            </a:r>
            <a:r>
              <a:rPr lang="en-US" sz="2800">
                <a:solidFill>
                  <a:srgbClr val="2EBAD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Cost/Frequency/Recency based eviction/caching.</a:t>
            </a:r>
            <a:endParaRPr b="1" sz="2800">
              <a:solidFill>
                <a:srgbClr val="000000"/>
              </a:solidFill>
            </a:endParaRPr>
          </a:p>
          <a:p>
            <a:pPr indent="-16510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rgbClr val="70AD47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7" name="Google Shape;77;p2"/>
          <p:cNvSpPr txBox="1"/>
          <p:nvPr/>
        </p:nvSpPr>
        <p:spPr>
          <a:xfrm>
            <a:off x="6093893" y="57036"/>
            <a:ext cx="609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rgbClr val="70AD47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4" name="Google Shape;84;p3"/>
          <p:cNvSpPr txBox="1"/>
          <p:nvPr/>
        </p:nvSpPr>
        <p:spPr>
          <a:xfrm>
            <a:off x="6093893" y="57036"/>
            <a:ext cx="60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347096" y="1458369"/>
            <a:ext cx="114978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-US" sz="2800">
                <a:solidFill>
                  <a:srgbClr val="21BDED"/>
                </a:solidFill>
                <a:latin typeface="Calibri"/>
                <a:ea typeface="Calibri"/>
                <a:cs typeface="Calibri"/>
                <a:sym typeface="Calibri"/>
              </a:rPr>
              <a:t>Tiered Cache Middleware</a:t>
            </a:r>
            <a:r>
              <a:rPr lang="en-US" sz="2800">
                <a:solidFill>
                  <a:srgbClr val="21BDE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Multi-stage interceptor for LLM/Agent calls.</a:t>
            </a:r>
            <a:endParaRPr b="1"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BCD7"/>
              </a:buClr>
              <a:buSzPts val="2800"/>
              <a:buChar char="•"/>
            </a:pPr>
            <a:r>
              <a:rPr b="1" lang="en-US" sz="2800">
                <a:solidFill>
                  <a:srgbClr val="35BCD7"/>
                </a:solidFill>
                <a:latin typeface="Calibri"/>
                <a:ea typeface="Calibri"/>
                <a:cs typeface="Calibri"/>
                <a:sym typeface="Calibri"/>
              </a:rPr>
              <a:t>Intelligent Storage Layer</a:t>
            </a:r>
            <a:r>
              <a:rPr lang="en-US" sz="2800">
                <a:solidFill>
                  <a:srgbClr val="35BCD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800">
              <a:solidFill>
                <a:srgbClr val="35BCD7"/>
              </a:solidFill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Exact: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Redis for deterministic lookups (low latency).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Semantic: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Pgvector for context/meaning matches (prevents redundant compute).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-US" sz="2800">
                <a:solidFill>
                  <a:srgbClr val="47BA87"/>
                </a:solidFill>
                <a:latin typeface="Calibri"/>
                <a:ea typeface="Calibri"/>
                <a:cs typeface="Calibri"/>
                <a:sym typeface="Calibri"/>
              </a:rPr>
              <a:t>Policy-Driven Optimization</a:t>
            </a:r>
            <a:r>
              <a:rPr lang="en-US" sz="2800">
                <a:solidFill>
                  <a:srgbClr val="47BA8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Intelligent scorer evaluates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 worth caching (balances cost vs. memory).</a:t>
            </a:r>
            <a:endParaRPr b="1"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lang="en-US" sz="2800">
                <a:solidFill>
                  <a:srgbClr val="4DBB64"/>
                </a:solidFill>
                <a:latin typeface="Calibri"/>
                <a:ea typeface="Calibri"/>
                <a:cs typeface="Calibri"/>
                <a:sym typeface="Calibri"/>
              </a:rPr>
              <a:t>Observability Suite</a:t>
            </a:r>
            <a:r>
              <a:rPr lang="en-US" sz="2800">
                <a:solidFill>
                  <a:srgbClr val="4DBB64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Streamlit dashboard tracking live hit-rates, latency, and cost savings.</a:t>
            </a:r>
            <a:endParaRPr b="1" sz="2800">
              <a:solidFill>
                <a:srgbClr val="000000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 Name : </a:t>
            </a:r>
            <a:r>
              <a:rPr b="1" lang="en-US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ICO - cache</a:t>
            </a:r>
            <a:endParaRPr b="1" i="0" spc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4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2" name="Google Shape;92;p4"/>
          <p:cNvSpPr txBox="1"/>
          <p:nvPr/>
        </p:nvSpPr>
        <p:spPr>
          <a:xfrm>
            <a:off x="6093893" y="57036"/>
            <a:ext cx="609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 rot="10800000">
            <a:off x="244700" y="1378025"/>
            <a:ext cx="11670900" cy="4953300"/>
          </a:xfrm>
          <a:prstGeom prst="round1Rect">
            <a:avLst>
              <a:gd fmla="val 36915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50750" y="1525100"/>
            <a:ext cx="11196900" cy="4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174A78"/>
                </a:solidFill>
                <a:latin typeface="Calibri"/>
                <a:ea typeface="Calibri"/>
                <a:cs typeface="Calibri"/>
                <a:sym typeface="Calibri"/>
              </a:rPr>
              <a:t>Core Application layer</a:t>
            </a:r>
            <a:endParaRPr b="1" i="0" spc="0" sz="2800" u="none" cap="none" strike="noStrike">
              <a:solidFill>
                <a:srgbClr val="174A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168DB5"/>
                </a:solidFill>
                <a:latin typeface="Calibri"/>
                <a:ea typeface="Calibri"/>
                <a:cs typeface="Calibri"/>
                <a:sym typeface="Calibri"/>
              </a:rPr>
              <a:t>Cache Implementation Layer</a:t>
            </a:r>
            <a:endParaRPr b="1" i="0" spc="0" sz="2800" u="none" cap="none" strike="noStrike">
              <a:solidFill>
                <a:srgbClr val="168D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159FC1"/>
                </a:solidFill>
                <a:latin typeface="Calibri"/>
                <a:ea typeface="Calibri"/>
                <a:cs typeface="Calibri"/>
                <a:sym typeface="Calibri"/>
              </a:rPr>
              <a:t>Intelligence layer</a:t>
            </a:r>
            <a:endParaRPr b="1" i="0" spc="0" sz="2800" u="none" cap="none" strike="noStrike">
              <a:solidFill>
                <a:srgbClr val="159FC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19A7A0"/>
                </a:solidFill>
                <a:latin typeface="Calibri"/>
                <a:ea typeface="Calibri"/>
                <a:cs typeface="Calibri"/>
                <a:sym typeface="Calibri"/>
              </a:rPr>
              <a:t>LLM provider layer</a:t>
            </a:r>
            <a:endParaRPr b="1" i="0" spc="0" sz="2800" u="none" cap="none" strike="noStrike">
              <a:solidFill>
                <a:srgbClr val="19A7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0F8F82"/>
                </a:solidFill>
                <a:latin typeface="Calibri"/>
                <a:ea typeface="Calibri"/>
                <a:cs typeface="Calibri"/>
                <a:sym typeface="Calibri"/>
              </a:rPr>
              <a:t>Support Components</a:t>
            </a:r>
            <a:endParaRPr b="1" i="0" spc="0" sz="2800" u="none" cap="none" strike="noStrike">
              <a:solidFill>
                <a:srgbClr val="0F8F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35A853"/>
                </a:solidFill>
                <a:latin typeface="Calibri"/>
                <a:ea typeface="Calibri"/>
                <a:cs typeface="Calibri"/>
                <a:sym typeface="Calibri"/>
              </a:rPr>
              <a:t>Dashboard and Monitoring</a:t>
            </a:r>
            <a:endParaRPr b="1" i="0" spc="0" sz="2800" u="none" cap="none" strike="noStrike">
              <a:solidFill>
                <a:srgbClr val="35A85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rgbClr val="54B948"/>
                </a:solidFill>
                <a:latin typeface="Calibri"/>
                <a:ea typeface="Calibri"/>
                <a:cs typeface="Calibri"/>
                <a:sym typeface="Calibri"/>
              </a:rPr>
              <a:t>Benchmarking FrameWork</a:t>
            </a:r>
            <a:endParaRPr b="1" i="0" spc="0" sz="2800" u="none" cap="none" strike="noStrike">
              <a:solidFill>
                <a:srgbClr val="54B9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pc="0" sz="2800" u="none" cap="none" strike="noStrike">
              <a:solidFill>
                <a:srgbClr val="8BCF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pc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idx="1" type="body"/>
          </p:nvPr>
        </p:nvSpPr>
        <p:spPr>
          <a:xfrm>
            <a:off x="270900" y="1357500"/>
            <a:ext cx="116502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1EBDEF"/>
                </a:solidFill>
                <a:latin typeface="Calibri"/>
                <a:ea typeface="Calibri"/>
                <a:cs typeface="Calibri"/>
                <a:sym typeface="Calibri"/>
              </a:rPr>
              <a:t>1. Wasted cost &amp; time —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repeated or reworded queries re-run through the LLM, paying full token cost and 2–10s latency every time.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5BCD5"/>
                </a:solidFill>
                <a:latin typeface="Calibri"/>
                <a:ea typeface="Calibri"/>
                <a:cs typeface="Calibri"/>
                <a:sym typeface="Calibri"/>
              </a:rPr>
              <a:t>2. Unsafe caching —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naïve semantic caches return false hits, causing cross-entity, cross-tenant, and cross-quarter answer bleed.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47BA88"/>
                </a:solidFill>
                <a:latin typeface="Calibri"/>
                <a:ea typeface="Calibri"/>
                <a:cs typeface="Calibri"/>
                <a:sym typeface="Calibri"/>
              </a:rPr>
              <a:t>3. No production-ready solution —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existing caches are either exact-match only, infra-heavy, platform-fragile, or not context-aware.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rPr lang="en-US" sz="2400">
                <a:solidFill>
                  <a:srgbClr val="4AB859"/>
                </a:solidFill>
                <a:latin typeface="Calibri"/>
                <a:ea typeface="Calibri"/>
                <a:cs typeface="Calibri"/>
                <a:sym typeface="Calibri"/>
              </a:rPr>
              <a:t>4.  No visibility into savings —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teams can't measure how many LLM calls, tokens, and dollars a cache actually eliminates.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Problem Statement  </a:t>
            </a:r>
            <a:r>
              <a:rPr b="0" i="0" lang="en-US" spc="0" sz="34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(Why </a:t>
            </a:r>
            <a:r>
              <a:rPr lang="en-US" sz="34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ico-cache</a:t>
            </a:r>
            <a:r>
              <a:rPr b="0" i="0" lang="en-US" spc="0" sz="34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Graph is better)</a:t>
            </a:r>
            <a:endParaRPr b="0" i="0" spc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2" name="Google Shape;102;p5"/>
          <p:cNvSpPr txBox="1"/>
          <p:nvPr/>
        </p:nvSpPr>
        <p:spPr>
          <a:xfrm>
            <a:off x="6093893" y="57036"/>
            <a:ext cx="6098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1" spc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pc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9" name="Google Shape;109;p6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1445"/>
            <a:ext cx="11887201" cy="3993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/>
        </p:nvSpPr>
        <p:spPr>
          <a:xfrm>
            <a:off x="221271" y="4143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Approach/Algorithms/Tools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7"/>
          <p:cNvCxnSpPr/>
          <p:nvPr/>
        </p:nvCxnSpPr>
        <p:spPr>
          <a:xfrm>
            <a:off x="221274" y="1060856"/>
            <a:ext cx="7305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7" name="Google Shape;117;p7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</a:t>
            </a: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 Calibri body 18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7"/>
          <p:cNvGraphicFramePr/>
          <p:nvPr/>
        </p:nvGraphicFramePr>
        <p:xfrm>
          <a:off x="476025" y="115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{CA5BF48E-563A-4E0D-BA28-ED4F5F1DC327}</a:tableStyleId>
              </a:tblPr>
              <a:tblGrid>
                <a:gridCol w="1866800"/>
                <a:gridCol w="5065150"/>
                <a:gridCol w="43080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Area</a:t>
                      </a:r>
                      <a:endParaRPr b="1" sz="2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 / Algorithm</a:t>
                      </a:r>
                      <a:endParaRPr b="1" sz="2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 Used</a:t>
                      </a:r>
                      <a:endParaRPr b="1" sz="2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 Exact cache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SHA-256 hash of normalized query + model + prompt_version + metadata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Redis / SQLite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L2/L3 Semantic, Context aware cache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FastEmbed vectors (384-dim) + cosine similarity ≥0.85/0.90, dual-vector for context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Qdrant / LanceDB, BAAI/bge-small-en-v1.5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Anti-false-hit guard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Metadata hard-gate on tenant/entity/quarter/model; mismatch = block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metadata_guard.py + decision_engine.py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ingestion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Content-sniffing + chunking + OCR fallback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PyMuPDF, beautifulsoup4, tree-sitter, Tesseract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Concurrency + tenancy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Single-flight coalescing, tenant_id isolation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asyncio, Redis, Qdrant collections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Observability + QA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Metrics/tracing/cost accounting, deterministic benchmarks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Prometheus, OpenTelemetry, pytest, benchmark.py</a:t>
                      </a:r>
                      <a:endParaRPr sz="1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Findings and Results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5" name="Google Shape;125;p8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850" y="1539575"/>
            <a:ext cx="9785350" cy="44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Conclusion… Calibri body -36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9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3" name="Google Shape;133;p9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-  Calibri body 18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256001" y="1379550"/>
            <a:ext cx="11094900" cy="4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45818E"/>
                </a:solidFill>
                <a:latin typeface="Calibri"/>
                <a:ea typeface="Calibri"/>
                <a:cs typeface="Calibri"/>
                <a:sym typeface="Calibri"/>
              </a:rPr>
              <a:t> Achievements</a:t>
            </a:r>
            <a:endParaRPr b="1" i="0" spc="0" sz="2400" u="none" cap="none" strike="noStrike">
              <a:solidFill>
                <a:srgbClr val="45818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n-US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an end-to-end system that converts SEC filings into a queryable financial knowledge graph</a:t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n-US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Delivered accurate answers with source citations and zero hallucinated financial figures</a:t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n-US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Ensured strict company isolation — no cross-company data mixing in results</a:t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1" i="0" spc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n-US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graph segments on-the-fly during query time instead of pre-loading all filings</a:t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n-US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Auto-process new filings daily so the system stays up-to-date without manual runs</a:t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b="0" i="0" lang="en-US" spc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storage and startup time by loading only the data each query needs</a:t>
            </a:r>
            <a:endParaRPr b="0" i="0" spc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pc="0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Refrenences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1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rgbClr val="70AD47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141" name="Google Shape;141;p11"/>
          <p:cNvSpPr txBox="1"/>
          <p:nvPr/>
        </p:nvSpPr>
        <p:spPr>
          <a:xfrm>
            <a:off x="6093893" y="57036"/>
            <a:ext cx="609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085" y="1531938"/>
            <a:ext cx="7574913" cy="4233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74" y="1761892"/>
            <a:ext cx="4420217" cy="3334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2024-05-13T10:33:11Z</dcterms:created>
  <dc:creator>HARI PRASATH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