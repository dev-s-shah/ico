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189D66-5BDE-4950-8941-148A67200E2D}">
  <a:tblStyle styleId="{B7189D66-5BDE-4950-8941-148A67200E2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912ACCC0-0F8C-4E98-8AC8-11E3D9488C3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12ccb604592fe1b4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12ccb604592fe1b4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" type="body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 rot="5400000">
            <a:off x="3781990" y="-1912962"/>
            <a:ext cx="4795008" cy="11004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173803" y="469835"/>
            <a:ext cx="11672300" cy="650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Char char="•"/>
              <a:defRPr b="1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" y="5337544"/>
            <a:ext cx="12191994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0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LTIMindtree logo in transparent PNG and vectorized SVG formats"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45387" y="6562429"/>
            <a:ext cx="1541059" cy="29557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IN" sz="4400">
                <a:solidFill>
                  <a:schemeClr val="lt1"/>
                </a:solidFill>
              </a:rPr>
              <a:t>M.Tech/MCA Program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IN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4" name="Google Shape;64;p15"/>
          <p:cNvSpPr/>
          <p:nvPr/>
        </p:nvSpPr>
        <p:spPr>
          <a:xfrm>
            <a:off x="4125951" y="1177578"/>
            <a:ext cx="3033131" cy="286036"/>
          </a:xfrm>
          <a:prstGeom prst="roundRect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184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I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II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I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GraphRAG for Financial Insights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T9987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Arjun V 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 Chennai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{B7189D66-5BDE-4950-8941-148A67200E2D}</a:tableStyleId>
              </a:tblPr>
              <a:tblGrid>
                <a:gridCol w="6119600"/>
                <a:gridCol w="6119600"/>
              </a:tblGrid>
              <a:tr h="1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TIMindtree - Technology Consulting and Digital Solutions Company"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852667"/>
            <a:ext cx="3886489" cy="86488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M.Tech Program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Advanced Industry Integrated Programs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72" name="Google Shape;72;p15"/>
          <p:cNvSpPr/>
          <p:nvPr/>
        </p:nvSpPr>
        <p:spPr>
          <a:xfrm>
            <a:off x="4125950" y="1177575"/>
            <a:ext cx="3483000" cy="285900"/>
          </a:xfrm>
          <a:prstGeom prst="roundRect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</a:t>
            </a:r>
            <a:r>
              <a:rPr b="0" i="0" lang="en-IN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LTI MindTree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80236" y="1659822"/>
            <a:ext cx="11428200" cy="58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3300">
                <a:solidFill>
                  <a:schemeClr val="lt1"/>
                </a:solidFill>
              </a:rPr>
              <a:t>Review 2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5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 S SHAH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VIT CHENNAI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T9991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5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54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t/>
            </a:r>
            <a:endParaRPr b="1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4" name="Google Shape;74;p15"/>
          <p:cNvGraphicFramePr/>
          <p:nvPr/>
        </p:nvGraphicFramePr>
        <p:xfrm>
          <a:off x="-47290" y="55012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{912ACCC0-0F8C-4E98-8AC8-11E3D9488C38}</a:tableStyleId>
              </a:tblPr>
              <a:tblGrid>
                <a:gridCol w="6119600"/>
                <a:gridCol w="6119600"/>
              </a:tblGrid>
              <a:tr h="1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>
                          <a:solidFill>
                            <a:schemeClr val="lt1"/>
                          </a:solidFill>
                        </a:rPr>
                        <a:t>                                                        Implementation Partner</a:t>
                      </a:r>
                      <a:r>
                        <a:rPr lang="en-IN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ss Release Distribution India | Business Wire India" id="76" name="Google Shape;7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50" y="5852675"/>
            <a:ext cx="3221325" cy="8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221274" y="1234462"/>
            <a:ext cx="11212200" cy="55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1" sz="2800"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Repeated LLM queries cause </a:t>
            </a: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cost, latency, and token wastage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Scalability challenges due to growing API usage and rate limits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Intelligent Caching</a:t>
            </a:r>
            <a:endParaRPr b="1" sz="2800"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Match Cache :  Redis</a:t>
            </a:r>
            <a:endParaRPr b="1" sz="2800"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Similarity Cache : Pgvector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Context-Aware Retrieval : Agent/Tool support.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Intelligent Policy Engine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Cost/Frequency/Recency based eviction/caching.</a:t>
            </a:r>
            <a:endParaRPr b="1" sz="2800">
              <a:solidFill>
                <a:schemeClr val="dk1"/>
              </a:solidFill>
            </a:endParaRPr>
          </a:p>
          <a:p>
            <a:pPr indent="-165100" lvl="0" marL="3429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6"/>
          <p:cNvCxnSpPr/>
          <p:nvPr/>
        </p:nvCxnSpPr>
        <p:spPr>
          <a:xfrm>
            <a:off x="221274" y="1191756"/>
            <a:ext cx="7305900" cy="0"/>
          </a:xfrm>
          <a:prstGeom prst="straightConnector1">
            <a:avLst/>
          </a:prstGeom>
          <a:noFill/>
          <a:ln cap="flat" cmpd="sng" w="28575">
            <a:solidFill>
              <a:srgbClr val="70AD47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84" name="Google Shape;84;p16"/>
          <p:cNvSpPr txBox="1"/>
          <p:nvPr/>
        </p:nvSpPr>
        <p:spPr>
          <a:xfrm>
            <a:off x="6093893" y="57036"/>
            <a:ext cx="609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>
            <a:off x="221274" y="1191756"/>
            <a:ext cx="7305900" cy="0"/>
          </a:xfrm>
          <a:prstGeom prst="straightConnector1">
            <a:avLst/>
          </a:prstGeom>
          <a:noFill/>
          <a:ln cap="flat" cmpd="sng" w="28575">
            <a:solidFill>
              <a:srgbClr val="70AD47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1" name="Google Shape;91;p17"/>
          <p:cNvSpPr txBox="1"/>
          <p:nvPr/>
        </p:nvSpPr>
        <p:spPr>
          <a:xfrm>
            <a:off x="6093893" y="57036"/>
            <a:ext cx="60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347096" y="1458369"/>
            <a:ext cx="11497800" cy="4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Tiered Cache Middleware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Multi-stage interceptor for LLM/Agent calls.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Intelligent Storage Layer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2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i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Exact: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Redis for deterministic lookups (low latency).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i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Semantic: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Pgvector for context/meaning matches (prevents redundant compute).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Policy-Driven Optimization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Intelligent scorer evaluates </a:t>
            </a:r>
            <a:r>
              <a:rPr i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result worth caching (balances cost vs. memory).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Observability Suite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Streamlit dashboard tracking live hit-rates, latency, and cost savings.</a:t>
            </a:r>
            <a:endParaRPr b="1" sz="2800">
              <a:solidFill>
                <a:schemeClr val="dk1"/>
              </a:solidFill>
            </a:endParaRPr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 name – C</a:t>
            </a:r>
            <a:r>
              <a:rPr b="1" lang="en-IN" sz="3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ache</a:t>
            </a: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Engine</a:t>
            </a:r>
            <a:endParaRPr b="1" i="0" sz="36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9" name="Google Shape;99;p18"/>
          <p:cNvSpPr txBox="1"/>
          <p:nvPr/>
        </p:nvSpPr>
        <p:spPr>
          <a:xfrm>
            <a:off x="5037667" y="57036"/>
            <a:ext cx="715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256800" y="1234450"/>
            <a:ext cx="116784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CacheEngine &amp; DecisionEngine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Central orchestration of the multi-level cache hierarchy (L0a–L3) with confidence-based reuse decisions, single-flight request coalescing, and controlled cache writes.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L0a/L0b Caching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L0a caches deterministic function results; L0b caches embeddings using model fingerprint and text hash to avoid repeated computation.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L1 Exact Cache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Redis/SQLite key-value cache using tenant, query, model, provider, prompt, context, and metadata-based composite keys.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L2/L3 Intelligent Caching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L2 uses semantic similarity with Qdrant/LanceDB; L3 combines query and context vectors with metadata filtering for context-aware retrieval.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Invalidation &amp; Ingestion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InvalidationWorker synchronizes cache invalidation through Redis Streams, while Async Ingestion Manager handles background document-processing jobs with progress tracking.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Universal Data Loaders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Automatically processes PDF, HTML, Office/ODF, code, CSV/JSON, and images with OCR fallback.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Methodology/Modeling Plan</a:t>
            </a:r>
            <a:endParaRPr b="1" i="0" sz="36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7" name="Google Shape;107;p19"/>
          <p:cNvSpPr txBox="1"/>
          <p:nvPr/>
        </p:nvSpPr>
        <p:spPr>
          <a:xfrm>
            <a:off x="4775201" y="57036"/>
            <a:ext cx="741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392200" y="1389450"/>
            <a:ext cx="11523300" cy="4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1"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 Interception:</a:t>
            </a: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FastAPI /v1/query receives the query, context, tenant, and model information.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1"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Multi-Level Lookup:</a:t>
            </a: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DecisionEngine checks </a:t>
            </a:r>
            <a:r>
              <a:rPr b="1"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L0a → L0b → L1 → L2 → L3</a:t>
            </a: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sequence, with timeout protection.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1"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&amp; Semantic Matching:</a:t>
            </a: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L1 uses normalized query/context metadata, while L2 uses embeddings with cosine similarity and strict metadata filtering.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1"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Context-Aware Retrieval:</a:t>
            </a: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L3 compares both query and context vectors and validates context metadata before returning a match.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1"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&amp; Fallback:</a:t>
            </a: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engine returns the first result above the confidence threshold; otherwise, single-flight coalescing ensures only one LLM generation for concurrent requests.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1"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Cache Write &amp; Invalidation:</a:t>
            </a: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Successful responses are conditionally written to L1 and asynchronously to L2/L3, with Redis TTL, Streams-based invalidation, and LRU eviction.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Data preprocessing &amp; EDA</a:t>
            </a:r>
            <a:endParaRPr b="1" i="0" sz="36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20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5" name="Google Shape;115;p20"/>
          <p:cNvSpPr txBox="1"/>
          <p:nvPr/>
        </p:nvSpPr>
        <p:spPr>
          <a:xfrm>
            <a:off x="4969933" y="57036"/>
            <a:ext cx="722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286200" y="1458750"/>
            <a:ext cx="116196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Synthetic Benchmark Workload: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external dataset is required; workloads are generated deterministically at runtime.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 Evaluation Types: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Paraphrase-hit, adversarial, multilingual, code-AST, and lifecycle workloads test different cache behaviours.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Controlled Queries: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Templates generate repeated, paraphrased, contextual, and near-miss queries with controlled entity, quarter, and topic metadata.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Representation: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2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BAAI/bge-small-en-v1.5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through FastEmbed generates </a:t>
            </a: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384-dimensional embeddings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vector matching.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Ground Truth: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Deterministic fixtures define the expected cache result, making benchmark outcomes reproducible.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Lifecycle Validation: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Tests cover stale writes, refresh, invalidation, eviction, semantic matching, and multilingual/code-query scenarios.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Approach/Algorithms/Tools</a:t>
            </a:r>
            <a:endParaRPr b="1" i="0" sz="36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3" name="Google Shape;123;p21"/>
          <p:cNvSpPr txBox="1"/>
          <p:nvPr/>
        </p:nvSpPr>
        <p:spPr>
          <a:xfrm>
            <a:off x="4910667" y="57036"/>
            <a:ext cx="7281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256000" y="1346675"/>
            <a:ext cx="116037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Cache &amp; Storage: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Redis and SQLite support exact caching, while Qdrant and LanceDB provide vector storage for semantic and context-aware caching.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Embeddings &amp; Similarity: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FastEmbed with BAAI/bge-small-en-v1.5 performs local embedding generation and cosine-similarity search.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Integration: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LiteLLM provides a common interface for Gemini, OpenAI, Anthropic, Groq, and Ollama.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Layer: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FastAPI handles asynchronous APIs, authentication, rate limiting, request IDs, and health/metrics endpoints.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 &amp; Observability: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Streamlit provides the dashboard, while Prometheus/OpenTelemetry and structured logging support monitoring and tracing.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&amp; Data Handling: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Docker, Helm, and Kubernetes support deployment; content sniffing selects loaders using file content rather than extensions.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Project plan/milestones progress</a:t>
            </a:r>
            <a:endParaRPr b="1" i="0" sz="36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1" name="Google Shape;131;p22"/>
          <p:cNvSpPr txBox="1"/>
          <p:nvPr/>
        </p:nvSpPr>
        <p:spPr>
          <a:xfrm>
            <a:off x="4919133" y="57036"/>
            <a:ext cx="72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238201" y="1326025"/>
            <a:ext cx="11715600" cy="48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System Completed: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L1/L2/L3 caching, metadata hard-gates, L0a/L0b caching, and the DecisionEngine hierarchy are implemented.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Features Completed: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Multi-tenancy, API authentication, universal document loaders, asynchronous ingestion, and Redis-based distributed invalidation are operational.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Layer Completed: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FastAPI backend, monitoring, tracing, rate limiting, Streamlit dashboard, and Helm/Kubernetes deployment are implemented.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Benchmarking Completed: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Five benchmark datasets, automated reports, CI integration, and </a:t>
            </a: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0% false-hit rate on adversarial tests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have been verified.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Results: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Paraphrase benchmark achieved </a:t>
            </a: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88.89% cache hit rate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avoiding </a:t>
            </a: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72 of 81 LLM calls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with 72,000 tokens saved.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Progress: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Accounting/security fixes, L4–L9 layers, distributed rate limiting, broader end-to-end integration testing, and Windows CI validation remain.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9 — Pipeline Structure&#10;User Request&#10;    ↓&#10;FastAPI /v1/query (auth → rate limit → request ID)&#10;    ↓&#10;CacheEngine.resolve_or_generate(query, context, tenant, model)&#10;    ↓&#10;┌─────────────────────────────────────────────┐&#10;│ DecisionEngine.decide(DecisionContext)      │&#10;│   1. L0a: Check deterministic function cache│&#10;│   2. L0b: Check embedding cache             │&#10;│   3. L1: Exact key lookup (Redis/SQLite)    │&#10;│   4. L2: Vector search + metadata hard-gate │&#10;│   5. L3: Dual-vector intersect + context gate│&#10;│   6. L4–L9: (stubbed, not yet implemented)  │&#10;│   7. FULL_LLM_CALL fallback                 │&#10;└─────────────────────────────────────────────┘&#10;    ↓&#10;If HIT: Return cached response + record savings (tokens, cost, latency)&#10;    ↓&#10;If MISS:&#10;    → Single-flight lock (prevents duplicate generation)&#10;    → RAGPipeline.generate() or custom generate_fn&#10;        • Retrieve chunks from corpus (Qdrant)&#10;        • Rerank (optional)&#10;        • Build context → call LLM via LiteLLM&#10;    → Record actual token usage, cost, latency&#10;    → Conditional write to L1 (nx=True)&#10;    → Async write to L2 (vector + payload)&#10;    → Async write to L3 (dual-vector + context) if context provided&#10;    ↓&#10;Response returned to client (source: L1/L2/L3/MISS)&#10;    ↓&#10;Metrics recorded: cache_lookup latency, hit/miss per layer, tokens, cost, generation time&#10;    ↓&#10;Observability: Prometheus /v1/metrics, OTEL traces, structured logs, /v1/ready health add this ina nice blue and solid green dosgram in horizontal flow"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