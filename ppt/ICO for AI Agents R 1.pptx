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6F4072E-1202-4128-B558-4A46C9517CE2}">
  <a:tblStyle styleId="{B6F4072E-1202-4128-B558-4A46C9517CE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b="1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1" sz="20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TIMindtree logo in transparent PNG and vectorized SVG formats"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IN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IN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4125951" y="1177578"/>
            <a:ext cx="3324160" cy="261472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200" cy="44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t/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IN" sz="3300">
                <a:solidFill>
                  <a:schemeClr val="lt1"/>
                </a:solidFill>
              </a:rPr>
              <a:t>Review 1</a:t>
            </a:r>
            <a:endParaRPr b="1"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IN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T9991</a:t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{B6F4072E-1202-4128-B558-4A46C9517CE2}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Implementation partner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ss Release Distribution India | Business Wire India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21274" y="1069062"/>
            <a:ext cx="11212104" cy="552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Repeated LLM queries cause </a:t>
            </a: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high cost, latency, and token wastage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Scalability challenges due to growing API usage and rate limits</a:t>
            </a:r>
            <a:endParaRPr/>
          </a:p>
          <a:p>
            <a:pPr indent="-4064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Solution: Intelligent Caching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Exact Match Cache :  Redis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Semantic Similarity Cache : Pgvector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Context-Aware Retrieval : Agent/Tool support.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Intelligent Policy Engine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: Cost/Frequency/Recency based eviction/caching.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55996" y="1225094"/>
            <a:ext cx="114978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Tiered Cache Middleware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: Multi-stage interceptor for LLM/Agent calls.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Intelligent Storage Layer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i="1" lang="en-IN" sz="2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Exact:</a:t>
            </a:r>
            <a:r>
              <a:rPr lang="en-IN" sz="2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Redis for deterministic lookups (low latency).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i="1" lang="en-IN" sz="2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Semantic:</a:t>
            </a:r>
            <a:r>
              <a:rPr lang="en-IN" sz="28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Pgvector for context/meaning matches (prevents redundant compute).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Policy-Driven Optimization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: Intelligent scorer evaluates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result worth caching (balances cost vs. memory).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Observability Suite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: Streamlit dashboard tracking live hit-rates, latency, and cost savings.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b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t/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9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84" name="Google Shape;84;p17"/>
          <p:cNvSpPr txBox="1"/>
          <p:nvPr/>
        </p:nvSpPr>
        <p:spPr>
          <a:xfrm>
            <a:off x="6093893" y="57036"/>
            <a:ext cx="60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255996" y="1271219"/>
            <a:ext cx="11669304" cy="5084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</a:rPr>
              <a:t>Support </a:t>
            </a:r>
            <a:r>
              <a:rPr lang="en-IN">
                <a:solidFill>
                  <a:srgbClr val="1F3864"/>
                </a:solidFill>
              </a:rPr>
              <a:t>exact-match and semantic similarity</a:t>
            </a:r>
            <a:r>
              <a:rPr b="0" lang="en-IN">
                <a:solidFill>
                  <a:srgbClr val="1F3864"/>
                </a:solidFill>
              </a:rPr>
              <a:t> based cache retrieval.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</a:rPr>
              <a:t>Reduce </a:t>
            </a:r>
            <a:r>
              <a:rPr lang="en-IN">
                <a:solidFill>
                  <a:srgbClr val="1F3864"/>
                </a:solidFill>
              </a:rPr>
              <a:t>LLM inference calls</a:t>
            </a:r>
            <a:r>
              <a:rPr b="0" lang="en-IN">
                <a:solidFill>
                  <a:srgbClr val="1F3864"/>
                </a:solidFill>
              </a:rPr>
              <a:t>, latency, and API costs.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</a:rPr>
              <a:t>Reuse deterministic outputs from tools and agent workflows.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</a:rPr>
              <a:t>Implement context-aware cache invalidation and update policies.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</a:rPr>
              <a:t>Measure performance using: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2800">
                <a:solidFill>
                  <a:srgbClr val="1F3864"/>
                </a:solidFill>
              </a:rPr>
              <a:t>Cache Hit Rate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2800">
                <a:solidFill>
                  <a:srgbClr val="1F3864"/>
                </a:solidFill>
              </a:rPr>
              <a:t>Response Time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2800">
                <a:solidFill>
                  <a:srgbClr val="1F3864"/>
                </a:solidFill>
              </a:rPr>
              <a:t>Token Savings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2800">
                <a:solidFill>
                  <a:srgbClr val="1F3864"/>
                </a:solidFill>
              </a:rPr>
              <a:t>Cost Reduction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IN" sz="2800">
                <a:solidFill>
                  <a:srgbClr val="1F3864"/>
                </a:solidFill>
              </a:rPr>
              <a:t>Response Accuracy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2" name="Google Shape;92;p18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99" name="Google Shape;99;p19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7085" y="1531938"/>
            <a:ext cx="7574915" cy="4233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274" y="1761892"/>
            <a:ext cx="4420217" cy="3334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255996" y="1271219"/>
            <a:ext cx="11612154" cy="4142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>
                <a:latin typeface="Calibri"/>
                <a:ea typeface="Calibri"/>
                <a:cs typeface="Calibri"/>
                <a:sym typeface="Calibri"/>
              </a:rPr>
              <a:t>Key Findings from Literature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lang="en-IN">
                <a:latin typeface="Calibri"/>
                <a:ea typeface="Calibri"/>
                <a:cs typeface="Calibri"/>
                <a:sym typeface="Calibri"/>
              </a:rPr>
              <a:t>Semantic caching significantly reduces repeated LLM calls and inference cost.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lang="en-IN">
                <a:latin typeface="Calibri"/>
                <a:ea typeface="Calibri"/>
                <a:cs typeface="Calibri"/>
                <a:sym typeface="Calibri"/>
              </a:rPr>
              <a:t>Sentence embeddings (SBERT) enable accurate matching of paraphrased queries.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lang="en-IN">
                <a:latin typeface="Calibri"/>
                <a:ea typeface="Calibri"/>
                <a:cs typeface="Calibri"/>
                <a:sym typeface="Calibri"/>
              </a:rPr>
              <a:t>Context-aware caching improves performance in multi-turn conversations.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lang="en-IN">
                <a:latin typeface="Calibri"/>
                <a:ea typeface="Calibri"/>
                <a:cs typeface="Calibri"/>
                <a:sym typeface="Calibri"/>
              </a:rPr>
              <a:t>Existing approaches mainly focus on a single caching strategy (Exact or Semantic).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b="0" lang="en-IN">
                <a:latin typeface="Calibri"/>
                <a:ea typeface="Calibri"/>
                <a:cs typeface="Calibri"/>
                <a:sym typeface="Calibri"/>
              </a:rPr>
              <a:t>Most systems lack explainable cache decisions and intelligent cache policies. 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09" name="Google Shape;109;p20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16" name="Google Shape;116;p21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1736" y="1429947"/>
            <a:ext cx="8424314" cy="5054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Core Application Layer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API Management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Cache Implementation Layer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Cache Operations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Intelligence Layer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Decision Engine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LLM Provider Layer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Model Connectors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Supporting Components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Utility Services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Dashboard &amp; Monitoring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System Monitoring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Benchmarking Framework</a:t>
            </a: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0" i="1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Performance Analysis</a:t>
            </a:r>
            <a:endParaRPr b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800"/>
              <a:buNone/>
            </a:pPr>
            <a:r>
              <a:t/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25" name="Google Shape;125;p22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Dataset / Query Generation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Generated a custom workload of user queries.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Included exact, paraphrased, contextual, and repeated queries.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Simulated real AI agent interaction patterns.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Cache Validation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Tested Exact Cache for identical queries.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Tested Semantic Cache for similar/paraphrased queries.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Tested Context Cache for multi-turn conversations.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0" lang="en-IN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Tested Tool Cache for deterministic tool outputs.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IN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 name –Cache Manager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133" name="Google Shape;133;p23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